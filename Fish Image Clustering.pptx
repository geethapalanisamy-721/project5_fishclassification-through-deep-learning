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72" r:id="rId10"/>
    <p:sldId id="267" r:id="rId11"/>
    <p:sldId id="268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DD"/>
    <a:srgbClr val="FF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6461659943C748/Documents/Project5_fish_step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rgbClr val="FF0000"/>
                </a:solidFill>
              </a:rPr>
              <a:t>Fish</a:t>
            </a:r>
            <a:r>
              <a:rPr lang="en-IN" baseline="0">
                <a:solidFill>
                  <a:srgbClr val="FF0000"/>
                </a:solidFill>
              </a:rPr>
              <a:t>_Count</a:t>
            </a:r>
            <a:endParaRPr lang="en-IN">
              <a:solidFill>
                <a:srgbClr val="FF0000"/>
              </a:solidFill>
            </a:endParaRPr>
          </a:p>
        </c:rich>
      </c:tx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Sheet3!$E$1</c:f>
              <c:strCache>
                <c:ptCount val="1"/>
                <c:pt idx="0">
                  <c:v> TRAIN 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Sheet3!$D$2:$D$12</c:f>
              <c:strCache>
                <c:ptCount val="11"/>
                <c:pt idx="0">
                  <c:v>  animal fish          </c:v>
                </c:pt>
                <c:pt idx="1">
                  <c:v>  animal fish bass     </c:v>
                </c:pt>
                <c:pt idx="2">
                  <c:v> black_sea_sprat </c:v>
                </c:pt>
                <c:pt idx="3">
                  <c:v> gilt_head_bream </c:v>
                </c:pt>
                <c:pt idx="4">
                  <c:v>hourse_mackerel </c:v>
                </c:pt>
                <c:pt idx="5">
                  <c:v> red_mullet </c:v>
                </c:pt>
                <c:pt idx="6">
                  <c:v> red_sea_bream </c:v>
                </c:pt>
                <c:pt idx="7">
                  <c:v>sea_bass </c:v>
                </c:pt>
                <c:pt idx="8">
                  <c:v>shrimp </c:v>
                </c:pt>
                <c:pt idx="9">
                  <c:v>striped_red_mullet </c:v>
                </c:pt>
                <c:pt idx="10">
                  <c:v>trout  </c:v>
                </c:pt>
              </c:strCache>
            </c:strRef>
          </c:cat>
          <c:val>
            <c:numRef>
              <c:f>Sheet3!$E$2:$E$12</c:f>
              <c:numCache>
                <c:formatCode>General</c:formatCode>
                <c:ptCount val="11"/>
                <c:pt idx="0">
                  <c:v>1096</c:v>
                </c:pt>
                <c:pt idx="1">
                  <c:v>30</c:v>
                </c:pt>
                <c:pt idx="2">
                  <c:v>569</c:v>
                </c:pt>
                <c:pt idx="3">
                  <c:v>566</c:v>
                </c:pt>
                <c:pt idx="4">
                  <c:v>573</c:v>
                </c:pt>
                <c:pt idx="5">
                  <c:v>579</c:v>
                </c:pt>
                <c:pt idx="6">
                  <c:v>571</c:v>
                </c:pt>
                <c:pt idx="7">
                  <c:v>538</c:v>
                </c:pt>
                <c:pt idx="8">
                  <c:v>576</c:v>
                </c:pt>
                <c:pt idx="9">
                  <c:v>547</c:v>
                </c:pt>
                <c:pt idx="10">
                  <c:v>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D-4353-B6AE-7BA7BB6C9958}"/>
            </c:ext>
          </c:extLst>
        </c:ser>
        <c:ser>
          <c:idx val="1"/>
          <c:order val="1"/>
          <c:tx>
            <c:strRef>
              <c:f>Sheet3!$F$1</c:f>
              <c:strCache>
                <c:ptCount val="1"/>
                <c:pt idx="0">
                  <c:v> VAL 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Sheet3!$D$2:$D$12</c:f>
              <c:strCache>
                <c:ptCount val="11"/>
                <c:pt idx="0">
                  <c:v>  animal fish          </c:v>
                </c:pt>
                <c:pt idx="1">
                  <c:v>  animal fish bass     </c:v>
                </c:pt>
                <c:pt idx="2">
                  <c:v> black_sea_sprat </c:v>
                </c:pt>
                <c:pt idx="3">
                  <c:v> gilt_head_bream </c:v>
                </c:pt>
                <c:pt idx="4">
                  <c:v>hourse_mackerel </c:v>
                </c:pt>
                <c:pt idx="5">
                  <c:v> red_mullet </c:v>
                </c:pt>
                <c:pt idx="6">
                  <c:v> red_sea_bream </c:v>
                </c:pt>
                <c:pt idx="7">
                  <c:v>sea_bass </c:v>
                </c:pt>
                <c:pt idx="8">
                  <c:v>shrimp </c:v>
                </c:pt>
                <c:pt idx="9">
                  <c:v>striped_red_mullet </c:v>
                </c:pt>
                <c:pt idx="10">
                  <c:v>trout  </c:v>
                </c:pt>
              </c:strCache>
            </c:strRef>
          </c:cat>
          <c:val>
            <c:numRef>
              <c:f>Sheet3!$F$2:$F$12</c:f>
              <c:numCache>
                <c:formatCode>General</c:formatCode>
                <c:ptCount val="11"/>
                <c:pt idx="0">
                  <c:v>187</c:v>
                </c:pt>
                <c:pt idx="1">
                  <c:v>10</c:v>
                </c:pt>
                <c:pt idx="2">
                  <c:v>105</c:v>
                </c:pt>
                <c:pt idx="3">
                  <c:v>94</c:v>
                </c:pt>
                <c:pt idx="4">
                  <c:v>97</c:v>
                </c:pt>
                <c:pt idx="5">
                  <c:v>90</c:v>
                </c:pt>
                <c:pt idx="6">
                  <c:v>113</c:v>
                </c:pt>
                <c:pt idx="7">
                  <c:v>97</c:v>
                </c:pt>
                <c:pt idx="8">
                  <c:v>100</c:v>
                </c:pt>
                <c:pt idx="9">
                  <c:v>101</c:v>
                </c:pt>
                <c:pt idx="10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1D-4353-B6AE-7BA7BB6C9958}"/>
            </c:ext>
          </c:extLst>
        </c:ser>
        <c:ser>
          <c:idx val="2"/>
          <c:order val="2"/>
          <c:tx>
            <c:strRef>
              <c:f>Sheet3!$G$1</c:f>
              <c:strCache>
                <c:ptCount val="1"/>
                <c:pt idx="0">
                  <c:v> TEST SET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Sheet3!$D$2:$D$12</c:f>
              <c:strCache>
                <c:ptCount val="11"/>
                <c:pt idx="0">
                  <c:v>  animal fish          </c:v>
                </c:pt>
                <c:pt idx="1">
                  <c:v>  animal fish bass     </c:v>
                </c:pt>
                <c:pt idx="2">
                  <c:v> black_sea_sprat </c:v>
                </c:pt>
                <c:pt idx="3">
                  <c:v> gilt_head_bream </c:v>
                </c:pt>
                <c:pt idx="4">
                  <c:v>hourse_mackerel </c:v>
                </c:pt>
                <c:pt idx="5">
                  <c:v> red_mullet </c:v>
                </c:pt>
                <c:pt idx="6">
                  <c:v> red_sea_bream </c:v>
                </c:pt>
                <c:pt idx="7">
                  <c:v>sea_bass </c:v>
                </c:pt>
                <c:pt idx="8">
                  <c:v>shrimp </c:v>
                </c:pt>
                <c:pt idx="9">
                  <c:v>striped_red_mullet </c:v>
                </c:pt>
                <c:pt idx="10">
                  <c:v>trout  </c:v>
                </c:pt>
              </c:strCache>
            </c:strRef>
          </c:cat>
          <c:val>
            <c:numRef>
              <c:f>Sheet3!$G$2:$G$12</c:f>
              <c:numCache>
                <c:formatCode>General</c:formatCode>
                <c:ptCount val="11"/>
                <c:pt idx="0">
                  <c:v>520</c:v>
                </c:pt>
                <c:pt idx="1">
                  <c:v>13</c:v>
                </c:pt>
                <c:pt idx="2">
                  <c:v>298</c:v>
                </c:pt>
                <c:pt idx="3">
                  <c:v>305</c:v>
                </c:pt>
                <c:pt idx="4">
                  <c:v>286</c:v>
                </c:pt>
                <c:pt idx="5">
                  <c:v>291</c:v>
                </c:pt>
                <c:pt idx="6">
                  <c:v>273</c:v>
                </c:pt>
                <c:pt idx="7">
                  <c:v>327</c:v>
                </c:pt>
                <c:pt idx="8">
                  <c:v>289</c:v>
                </c:pt>
                <c:pt idx="9">
                  <c:v>293</c:v>
                </c:pt>
                <c:pt idx="10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1D-4353-B6AE-7BA7BB6C99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8408336"/>
        <c:axId val="1568406416"/>
      </c:barChart>
      <c:catAx>
        <c:axId val="156840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406416"/>
        <c:crosses val="autoZero"/>
        <c:auto val="1"/>
        <c:lblAlgn val="ctr"/>
        <c:lblOffset val="100"/>
        <c:noMultiLvlLbl val="0"/>
      </c:catAx>
      <c:valAx>
        <c:axId val="1568406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40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FE88-8E7C-3556-6C44-34DDA6579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8D523-1B44-5E8F-4FFF-D81C7A8B0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379BF-96AD-00A7-7006-E6D2E333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076FB-7F1A-002D-9C9B-0D0B0E89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F3A04-9E97-EE60-BE90-C8B8C0C6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97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C3AE-2AC7-D282-C69E-3EB411B41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56E3-1FE5-0EB7-DA07-F3E662FE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7BDDC-AA21-3F6E-26C6-86369CFA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5C7C9-1FB3-7D30-0979-CF0A0DA4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D74C2-2B15-9D5C-FF62-5A4844CD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7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AE35-96D0-C3EA-4C88-06F099E8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75720-F6C3-C482-82C6-49B8E37C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147E-02D4-D1AE-A00D-FE143CC6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D6803-EDF3-FA68-CB70-8F935B0D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5A819-1A21-BA1F-81B4-2C5080B1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0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9D15-804E-8F64-F780-E3A8D52C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6E55-E3C3-28E9-68F1-978A8A379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D6A3B-FF57-3092-41E9-A702A800F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BE074-9924-2D81-0877-427188DC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E5EF7-B8CE-12D0-A420-4D0470C0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7D84A-752F-1BD6-2698-A32863E3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79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F729-1D61-64E9-153F-8F2E70A4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B89D-0A40-8155-6744-2ABE13A7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1FF54-DA6C-E712-35E1-D04AEB006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4C098-9BC0-F97A-541C-9E8D48994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71B6A-9601-8D59-3F7A-E40B14B83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E2835-3FAD-73DC-0C04-7D65CE00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CDAA8-A09C-4121-2A85-9DD67EE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C0B74-BE4D-8F99-664D-6CAAB045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00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6B9B-150B-2E88-06BE-472AC7DD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373F2-0954-9DA5-C34D-A841E233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10C5D-FB61-5DA3-D92A-F95A7530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286FE-8E46-2827-9287-12737CCE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88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7269E-B45F-B602-D1AE-5EC3E30F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ECADB-4D48-5101-EF78-14B6A771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88A1-94F7-5EBF-BF70-F1864025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4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3FA8-04B3-E94F-F783-8BBA972B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8006A-0AB8-F57F-0164-2C659424F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5BE7-1057-7168-3ADB-B858889D9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DF161-A316-BAD7-0F48-6E917BB7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33556-5792-52FE-E835-E408BEBDA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D7A3D-106E-FD61-9377-A1B21D94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04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FCFE-83EA-716D-B44A-9AC3A8293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996DB-008F-B369-DCBE-45F01D8A1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571EF-A27D-5618-08BE-B367B89E8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9B677-B4E0-50B8-D519-04CB26AF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20D73-C4B9-4DAC-F363-D002CFD0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6B036-E130-6BDE-5864-2EBC685F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7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DF31-1519-2DA7-48AF-6E09D912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90025-23B1-BE4C-6F69-DB2769298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49B6B-51BB-1D12-BA3D-D33E273A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73A96-6AC1-CAF0-005F-13F0FFD3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A213-5C55-ABB3-902F-449EBB60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5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CE187-AF33-6E66-CC9E-1AF43D522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9B714-29C6-0435-051D-E0E2BBDC7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4C42D-4C0A-1A59-BD36-72D4914B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9E61D-CFF9-81D2-F0CE-E13317B5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29FA2-6457-8BBF-BB92-1A05951D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32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C24081-8F14-CC25-129F-6EDDF0CA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AFAEC-9542-C8D1-9B5E-F7CC974D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DD8D5-A9A7-EC00-9BDB-839AFD057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3F574-AD02-4C03-9BCF-E54E07D8197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108C-CC1C-76F1-8D84-F53670E09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A8B96-2F76-DB1E-E8B9-0EC14923C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47BCA-7EAA-4C26-B6BF-BCE7E0CF1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8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2E15-B90A-9EC5-435B-A36778B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C2AE-CE23-ECA4-609B-6831BD490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820453"/>
            <a:ext cx="10677832" cy="1375028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Fish Classification through Deep Learning</a:t>
            </a:r>
            <a:br>
              <a:rPr lang="en-IN" dirty="0"/>
            </a:br>
            <a:r>
              <a:rPr lang="en-IN" sz="2800" dirty="0">
                <a:solidFill>
                  <a:srgbClr val="FF0000"/>
                </a:solidFill>
                <a:latin typeface="Aptos" panose="020B0004020202020204" pitchFamily="34" charset="0"/>
              </a:rPr>
              <a:t>Catch &amp; Classify</a:t>
            </a:r>
            <a:endParaRPr lang="en-IN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6895A-B9D4-1EAC-419C-CEEB44A2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7C2010E8-944C-519E-0049-AABBD526D5C8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54946F-99DE-3F7C-145D-AD92A81FCF4B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8C5892-5A56-52D9-8D50-99F304245744}"/>
              </a:ext>
            </a:extLst>
          </p:cNvPr>
          <p:cNvSpPr txBox="1"/>
          <p:nvPr/>
        </p:nvSpPr>
        <p:spPr>
          <a:xfrm>
            <a:off x="376689" y="5388812"/>
            <a:ext cx="34533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Presenter</a:t>
            </a:r>
            <a:r>
              <a:rPr lang="en-US" sz="2500" b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br>
              <a:rPr lang="en-US" sz="2500" b="1" dirty="0">
                <a:solidFill>
                  <a:srgbClr val="FF0000"/>
                </a:solidFill>
                <a:latin typeface="Aptos Display" panose="020B0004020202020204" pitchFamily="34" charset="0"/>
              </a:rPr>
            </a:br>
            <a:r>
              <a:rPr lang="en-US" sz="2000" b="1" dirty="0">
                <a:latin typeface="Aptos Display" panose="020B0004020202020204" pitchFamily="34" charset="0"/>
                <a:cs typeface="Arial" panose="020B0604020202020204" pitchFamily="34" charset="0"/>
              </a:rPr>
              <a:t>Geetha Palanisamy</a:t>
            </a:r>
          </a:p>
          <a:p>
            <a:r>
              <a:rPr lang="en-US" sz="2000" b="1" dirty="0">
                <a:latin typeface="Aptos Display" panose="020B0004020202020204" pitchFamily="34" charset="0"/>
                <a:cs typeface="Arial" panose="020B0604020202020204" pitchFamily="34" charset="0"/>
              </a:rPr>
              <a:t>MDTM46B</a:t>
            </a:r>
            <a:endParaRPr lang="en-IN" sz="2000" b="1" dirty="0"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74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83A1-7F0D-1B78-080E-459C2CA3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90C971-BB5A-1977-5010-ABD481C6B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D3F72187-31E0-7BA5-8C2B-C6E3916082E9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FF67BF-B274-1144-B5EE-22AB24905350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D46C5F-C361-3642-9F10-F3B4C4CE937F}"/>
              </a:ext>
            </a:extLst>
          </p:cNvPr>
          <p:cNvSpPr txBox="1"/>
          <p:nvPr/>
        </p:nvSpPr>
        <p:spPr>
          <a:xfrm>
            <a:off x="2664542" y="206477"/>
            <a:ext cx="464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ptos" panose="020B0004020202020204" pitchFamily="34" charset="0"/>
              </a:rPr>
              <a:t>PROJECT OVERVIEW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3759A08-3BCC-657D-B34D-71410D4E53D1}"/>
              </a:ext>
            </a:extLst>
          </p:cNvPr>
          <p:cNvSpPr txBox="1">
            <a:spLocks/>
          </p:cNvSpPr>
          <p:nvPr/>
        </p:nvSpPr>
        <p:spPr>
          <a:xfrm>
            <a:off x="1111702" y="1052829"/>
            <a:ext cx="11080298" cy="21672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Objective: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1800" dirty="0">
                <a:latin typeface="Aptos" panose="020B0004020202020204" pitchFamily="34" charset="0"/>
              </a:rPr>
              <a:t>To develop an intelligent system capable of classifying multiple fish species using deep learning models.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Key Goals:</a:t>
            </a:r>
          </a:p>
          <a:p>
            <a:r>
              <a:rPr lang="en-US" sz="1800" dirty="0">
                <a:latin typeface="Aptos" panose="020B0004020202020204" pitchFamily="34" charset="0"/>
              </a:rPr>
              <a:t>Automate species recognition from fish images</a:t>
            </a:r>
          </a:p>
          <a:p>
            <a:r>
              <a:rPr lang="en-US" sz="1800" dirty="0">
                <a:latin typeface="Aptos" panose="020B0004020202020204" pitchFamily="34" charset="0"/>
              </a:rPr>
              <a:t>Compare performance of five CNN architectures</a:t>
            </a:r>
          </a:p>
          <a:p>
            <a:r>
              <a:rPr lang="en-US" sz="1800" dirty="0">
                <a:latin typeface="Aptos" panose="020B0004020202020204" pitchFamily="34" charset="0"/>
              </a:rPr>
              <a:t>Deploy the best model through a </a:t>
            </a:r>
            <a:r>
              <a:rPr lang="en-US" sz="1800" dirty="0" err="1">
                <a:latin typeface="Aptos" panose="020B0004020202020204" pitchFamily="34" charset="0"/>
              </a:rPr>
              <a:t>Streamlit</a:t>
            </a:r>
            <a:r>
              <a:rPr lang="en-US" sz="1800" dirty="0">
                <a:latin typeface="Aptos" panose="020B0004020202020204" pitchFamily="34" charset="0"/>
              </a:rPr>
              <a:t> web interface</a:t>
            </a: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FB93FD1-50D4-997F-70F9-FF9124CFE199}"/>
              </a:ext>
            </a:extLst>
          </p:cNvPr>
          <p:cNvSpPr txBox="1">
            <a:spLocks/>
          </p:cNvSpPr>
          <p:nvPr/>
        </p:nvSpPr>
        <p:spPr>
          <a:xfrm>
            <a:off x="1111702" y="3141945"/>
            <a:ext cx="9780990" cy="495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0070C0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Tech Stack: </a:t>
            </a:r>
            <a:r>
              <a:rPr lang="en-IN" sz="1800" b="1" dirty="0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Python| </a:t>
            </a:r>
            <a:r>
              <a:rPr lang="en-IN" sz="1800" b="1" dirty="0" err="1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Streamlit</a:t>
            </a:r>
            <a:r>
              <a:rPr lang="en-IN" sz="1800" b="1" dirty="0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lang="en-IN" sz="1800" b="1" dirty="0" err="1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Tensorflow</a:t>
            </a:r>
            <a:r>
              <a:rPr lang="en-IN" sz="1800" b="1" dirty="0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lang="en-IN" sz="1800" b="1" dirty="0" err="1">
                <a:latin typeface="Aptos Display" panose="020B0004020202020204" pitchFamily="34" charset="0"/>
                <a:ea typeface="+mn-ea"/>
                <a:cs typeface="Arial" panose="020B0604020202020204" pitchFamily="34" charset="0"/>
              </a:rPr>
              <a:t>Keras</a:t>
            </a:r>
            <a:endParaRPr lang="en-IN" sz="1800" b="1" dirty="0">
              <a:latin typeface="Aptos Display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DB4F69-A571-8E8A-7160-C8E098B0245D}"/>
              </a:ext>
            </a:extLst>
          </p:cNvPr>
          <p:cNvSpPr txBox="1"/>
          <p:nvPr/>
        </p:nvSpPr>
        <p:spPr>
          <a:xfrm>
            <a:off x="1198728" y="4694090"/>
            <a:ext cx="2193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Project Structure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63BEC-2045-B8E6-2080-1E293411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311" y="3775587"/>
            <a:ext cx="4730803" cy="287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3B021-CF2E-D2E6-94BE-99F121BB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B9174D-74C9-F6D8-88A4-FAED7757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3CE96FCE-4730-827B-BA7D-0A428D0DB883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912A42-3295-FDE5-5DD1-70635A4A7D6D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2920C87-638E-C069-18D3-5E309FA6B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51" y="816589"/>
            <a:ext cx="8701133" cy="6041409"/>
          </a:xfrm>
          <a:prstGeom prst="rect">
            <a:avLst/>
          </a:prstGeom>
          <a:effectLst>
            <a:glow rad="317500">
              <a:schemeClr val="tx1">
                <a:lumMod val="50000"/>
                <a:lumOff val="50000"/>
                <a:alpha val="44000"/>
              </a:schemeClr>
            </a:glow>
            <a:outerShdw blurRad="50800" dist="50800" dir="5400000" algn="ctr" rotWithShape="0">
              <a:schemeClr val="bg2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A03554-CF21-E2C3-E840-D9F6B55000BE}"/>
              </a:ext>
            </a:extLst>
          </p:cNvPr>
          <p:cNvSpPr txBox="1"/>
          <p:nvPr/>
        </p:nvSpPr>
        <p:spPr>
          <a:xfrm>
            <a:off x="2664542" y="206477"/>
            <a:ext cx="464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334582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3ECE-60E6-0600-4B83-1A1A9810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127872-511A-A96F-EA21-BA827D282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C0940A17-7004-710C-31F4-87EBFAE662CD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214946-C88A-85A5-3F3B-A92215E6A7F0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890AAC2-D0CB-F013-28D2-2F501B5A9DFC}"/>
              </a:ext>
            </a:extLst>
          </p:cNvPr>
          <p:cNvSpPr txBox="1"/>
          <p:nvPr/>
        </p:nvSpPr>
        <p:spPr>
          <a:xfrm>
            <a:off x="2664542" y="206477"/>
            <a:ext cx="464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DATASET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49934-F377-AE41-833B-B1A0B26CD89A}"/>
              </a:ext>
            </a:extLst>
          </p:cNvPr>
          <p:cNvSpPr txBox="1"/>
          <p:nvPr/>
        </p:nvSpPr>
        <p:spPr>
          <a:xfrm>
            <a:off x="1503528" y="1081548"/>
            <a:ext cx="101575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Dataset: </a:t>
            </a:r>
            <a:r>
              <a:rPr lang="en-US" sz="1600" dirty="0">
                <a:latin typeface="Aptos" panose="020B0004020202020204" pitchFamily="34" charset="0"/>
              </a:rPr>
              <a:t>Custom dataset containing </a:t>
            </a:r>
            <a:r>
              <a:rPr lang="en-US" sz="1600" b="1" dirty="0">
                <a:latin typeface="Aptos" panose="020B0004020202020204" pitchFamily="34" charset="0"/>
              </a:rPr>
              <a:t>11 fish classes</a:t>
            </a:r>
            <a:r>
              <a:rPr lang="en-US" sz="1600" dirty="0">
                <a:latin typeface="Aptos" panose="020B0004020202020204" pitchFamily="34" charset="0"/>
              </a:rPr>
              <a:t>, categorized under folders: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train/, </a:t>
            </a:r>
            <a:r>
              <a:rPr lang="en-US" sz="1600" dirty="0" err="1">
                <a:latin typeface="Aptos" panose="020B0004020202020204" pitchFamily="34" charset="0"/>
              </a:rPr>
              <a:t>val</a:t>
            </a:r>
            <a:r>
              <a:rPr lang="en-US" sz="1600" dirty="0">
                <a:latin typeface="Aptos" panose="020B0004020202020204" pitchFamily="34" charset="0"/>
              </a:rPr>
              <a:t>/, test/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IN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Class examples: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animal_fish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animal_fish_bass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fish_sea_food_black_sea_sprat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fish_sea_food_gilt_head_bream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fish_sea_food_hourse_mackerel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fish_sea_food_red_mullet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fish_sea_food_red_sea_bream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fish_sea_food_sea_bass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fish_sea_food_shrimp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fish_sea_food_striped_red_mullet</a:t>
            </a:r>
            <a:endParaRPr lang="en-IN" sz="1600" dirty="0">
              <a:latin typeface="Aptos" panose="020B000402020202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 err="1">
                <a:latin typeface="Aptos" panose="020B0004020202020204" pitchFamily="34" charset="0"/>
              </a:rPr>
              <a:t>fish_sea_food_trout</a:t>
            </a:r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Statistics:</a:t>
            </a:r>
          </a:p>
          <a:p>
            <a:endParaRPr lang="en-IN" sz="1600" b="1" dirty="0">
              <a:solidFill>
                <a:srgbClr val="0070C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06518A-A6A7-A00E-8FF6-44416AF3D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62571"/>
              </p:ext>
            </p:extLst>
          </p:nvPr>
        </p:nvGraphicFramePr>
        <p:xfrm>
          <a:off x="1602658" y="5417574"/>
          <a:ext cx="5584722" cy="1313565"/>
        </p:xfrm>
        <a:graphic>
          <a:graphicData uri="http://schemas.openxmlformats.org/drawingml/2006/table">
            <a:tbl>
              <a:tblPr/>
              <a:tblGrid>
                <a:gridCol w="1861574">
                  <a:extLst>
                    <a:ext uri="{9D8B030D-6E8A-4147-A177-3AD203B41FA5}">
                      <a16:colId xmlns:a16="http://schemas.microsoft.com/office/drawing/2014/main" val="3737992891"/>
                    </a:ext>
                  </a:extLst>
                </a:gridCol>
                <a:gridCol w="1861574">
                  <a:extLst>
                    <a:ext uri="{9D8B030D-6E8A-4147-A177-3AD203B41FA5}">
                      <a16:colId xmlns:a16="http://schemas.microsoft.com/office/drawing/2014/main" val="2660102888"/>
                    </a:ext>
                  </a:extLst>
                </a:gridCol>
                <a:gridCol w="1861574">
                  <a:extLst>
                    <a:ext uri="{9D8B030D-6E8A-4147-A177-3AD203B41FA5}">
                      <a16:colId xmlns:a16="http://schemas.microsoft.com/office/drawing/2014/main" val="792472939"/>
                    </a:ext>
                  </a:extLst>
                </a:gridCol>
              </a:tblGrid>
              <a:tr h="293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Split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Images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Purpose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79644"/>
                  </a:ext>
                </a:extLst>
              </a:tr>
              <a:tr h="293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6225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Model learning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973808"/>
                  </a:ext>
                </a:extLst>
              </a:tr>
              <a:tr h="293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Validation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Hyperparameter tuning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86626"/>
                  </a:ext>
                </a:extLst>
              </a:tr>
              <a:tr h="354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Test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3187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Final performance evaluation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03667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3E62097-B3D2-2E34-7A99-9BF72D2412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549459"/>
              </p:ext>
            </p:extLst>
          </p:nvPr>
        </p:nvGraphicFramePr>
        <p:xfrm>
          <a:off x="5378246" y="1897626"/>
          <a:ext cx="6636774" cy="2811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66121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872A-DD02-603A-BA9D-E32857FC4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664247-CD02-D361-FAA8-9F7DCE62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2469D17D-137C-C41A-7170-8E72998A2520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36074C-25D7-9B1C-9ACB-327395742BD6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1CAF00-BC12-829C-4CE4-7E26C94BEDF0}"/>
              </a:ext>
            </a:extLst>
          </p:cNvPr>
          <p:cNvSpPr txBox="1"/>
          <p:nvPr/>
        </p:nvSpPr>
        <p:spPr>
          <a:xfrm>
            <a:off x="1503528" y="1012723"/>
            <a:ext cx="101673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Script Used: </a:t>
            </a:r>
            <a:r>
              <a:rPr lang="en-IN" dirty="0">
                <a:latin typeface="Aptos" panose="020B0004020202020204" pitchFamily="34" charset="0"/>
              </a:rPr>
              <a:t>data_preprocessing.py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Steps Performed:</a:t>
            </a:r>
          </a:p>
          <a:p>
            <a:r>
              <a:rPr lang="en-IN" b="1" dirty="0">
                <a:latin typeface="Aptos" panose="020B0004020202020204" pitchFamily="34" charset="0"/>
              </a:rPr>
              <a:t>1.Directory Verification</a:t>
            </a:r>
            <a:r>
              <a:rPr lang="en-IN" dirty="0">
                <a:latin typeface="Aptos" panose="020B0004020202020204" pitchFamily="34" charset="0"/>
              </a:rPr>
              <a:t> – Checked train/</a:t>
            </a:r>
            <a:r>
              <a:rPr lang="en-IN" dirty="0" err="1">
                <a:latin typeface="Aptos" panose="020B0004020202020204" pitchFamily="34" charset="0"/>
              </a:rPr>
              <a:t>val</a:t>
            </a:r>
            <a:r>
              <a:rPr lang="en-IN" dirty="0">
                <a:latin typeface="Aptos" panose="020B0004020202020204" pitchFamily="34" charset="0"/>
              </a:rPr>
              <a:t>/test structure using helper scripts (check_paths.py, check_data_generators.py).</a:t>
            </a:r>
          </a:p>
          <a:p>
            <a:r>
              <a:rPr lang="en-IN" b="1" dirty="0">
                <a:latin typeface="Aptos" panose="020B0004020202020204" pitchFamily="34" charset="0"/>
              </a:rPr>
              <a:t>2.Rescaling</a:t>
            </a:r>
            <a:r>
              <a:rPr lang="en-IN" dirty="0">
                <a:latin typeface="Aptos" panose="020B0004020202020204" pitchFamily="34" charset="0"/>
              </a:rPr>
              <a:t> – Normalized image pixel values (1/255).</a:t>
            </a:r>
          </a:p>
          <a:p>
            <a:r>
              <a:rPr lang="en-IN" b="1" dirty="0">
                <a:latin typeface="Aptos" panose="020B0004020202020204" pitchFamily="34" charset="0"/>
              </a:rPr>
              <a:t>3.Augmentation:</a:t>
            </a:r>
            <a:endParaRPr lang="en-IN" dirty="0">
              <a:latin typeface="Aptos" panose="020B00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Aptos" panose="020B0004020202020204" pitchFamily="34" charset="0"/>
              </a:rPr>
              <a:t>Rotation (20°)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Aptos" panose="020B0004020202020204" pitchFamily="34" charset="0"/>
              </a:rPr>
              <a:t>Width/Height shifts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Aptos" panose="020B0004020202020204" pitchFamily="34" charset="0"/>
              </a:rPr>
              <a:t>Zoom &amp; Horizontal flips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Aptos" panose="020B0004020202020204" pitchFamily="34" charset="0"/>
              </a:rPr>
              <a:t>Shear transformation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These increased generalization and prevented overfitting.</a:t>
            </a:r>
          </a:p>
          <a:p>
            <a:r>
              <a:rPr lang="en-IN" b="1" dirty="0">
                <a:latin typeface="Aptos" panose="020B0004020202020204" pitchFamily="34" charset="0"/>
              </a:rPr>
              <a:t>4.Data Generators:</a:t>
            </a:r>
            <a:r>
              <a:rPr lang="en-IN" dirty="0">
                <a:latin typeface="Aptos" panose="020B0004020202020204" pitchFamily="34" charset="0"/>
              </a:rPr>
              <a:t> Created using </a:t>
            </a:r>
            <a:r>
              <a:rPr lang="en-IN" dirty="0" err="1">
                <a:latin typeface="Aptos" panose="020B0004020202020204" pitchFamily="34" charset="0"/>
              </a:rPr>
              <a:t>ImageDataGenerator</a:t>
            </a:r>
            <a:r>
              <a:rPr lang="en-IN" dirty="0">
                <a:latin typeface="Aptos" panose="020B0004020202020204" pitchFamily="34" charset="0"/>
              </a:rPr>
              <a:t> for efficient batch feeding.</a:t>
            </a:r>
          </a:p>
          <a:p>
            <a:r>
              <a:rPr lang="en-IN" b="1" dirty="0">
                <a:latin typeface="Aptos" panose="020B0004020202020204" pitchFamily="34" charset="0"/>
              </a:rPr>
              <a:t>5.Validation Split:</a:t>
            </a:r>
            <a:r>
              <a:rPr lang="en-IN" dirty="0">
                <a:latin typeface="Aptos" panose="020B0004020202020204" pitchFamily="34" charset="0"/>
              </a:rPr>
              <a:t> Maintained separate folders for consistent evaluation.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Goal: </a:t>
            </a:r>
            <a:r>
              <a:rPr lang="en-IN" dirty="0">
                <a:latin typeface="Aptos" panose="020B0004020202020204" pitchFamily="34" charset="0"/>
              </a:rPr>
              <a:t>Prepare a robust and balanced dataset pipeline for multiple models.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5253E-753B-4E99-63DE-78B7C743B880}"/>
              </a:ext>
            </a:extLst>
          </p:cNvPr>
          <p:cNvSpPr txBox="1"/>
          <p:nvPr/>
        </p:nvSpPr>
        <p:spPr>
          <a:xfrm>
            <a:off x="2664542" y="206477"/>
            <a:ext cx="464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69211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0F9C-B67B-7A07-77D7-B82857F8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222EB-1701-F3F5-4940-F03C526C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28E615F7-8F6C-BB68-09FC-04DC3B156884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D9BED-B9D0-1D0B-3501-AFFABF2A5C5D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429661E-6608-F9A1-9DB6-262839461EE1}"/>
              </a:ext>
            </a:extLst>
          </p:cNvPr>
          <p:cNvSpPr txBox="1"/>
          <p:nvPr/>
        </p:nvSpPr>
        <p:spPr>
          <a:xfrm>
            <a:off x="2664542" y="206477"/>
            <a:ext cx="464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CNN from scratch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F3691-B8B6-36F6-C72D-4EF45D5154E6}"/>
              </a:ext>
            </a:extLst>
          </p:cNvPr>
          <p:cNvSpPr txBox="1"/>
          <p:nvPr/>
        </p:nvSpPr>
        <p:spPr>
          <a:xfrm>
            <a:off x="1042220" y="1052052"/>
            <a:ext cx="1036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Script Used: </a:t>
            </a:r>
            <a:r>
              <a:rPr lang="en-US" dirty="0">
                <a:latin typeface="Aptos" panose="020B0004020202020204" pitchFamily="34" charset="0"/>
              </a:rPr>
              <a:t>train_cnn_scratch.py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Purpose: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To build a </a:t>
            </a:r>
            <a:r>
              <a:rPr lang="en-US" b="1" dirty="0">
                <a:latin typeface="Aptos" panose="020B0004020202020204" pitchFamily="34" charset="0"/>
              </a:rPr>
              <a:t>baseline model</a:t>
            </a:r>
            <a:r>
              <a:rPr lang="en-US" dirty="0">
                <a:latin typeface="Aptos" panose="020B0004020202020204" pitchFamily="34" charset="0"/>
              </a:rPr>
              <a:t> trained from scratch </a:t>
            </a:r>
            <a:r>
              <a:rPr lang="en-US" i="1" dirty="0">
                <a:latin typeface="Aptos" panose="020B0004020202020204" pitchFamily="34" charset="0"/>
              </a:rPr>
              <a:t>without pre-trained weights</a:t>
            </a:r>
            <a:r>
              <a:rPr lang="en-US" dirty="0">
                <a:latin typeface="Aptos" panose="020B0004020202020204" pitchFamily="34" charset="0"/>
              </a:rPr>
              <a:t> — helping understand dataset behavior and difficulty.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Architecture Overview: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Conv2D →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MaxPooling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→ Conv2D →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MaxPooling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→ Dropout → Flatten → Dense →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Softmax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endParaRPr lang="en-IN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Observation: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CE7B2A-98AA-8F8C-1209-951875DB3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485834"/>
              </p:ext>
            </p:extLst>
          </p:nvPr>
        </p:nvGraphicFramePr>
        <p:xfrm>
          <a:off x="6921911" y="3949318"/>
          <a:ext cx="5034116" cy="2599824"/>
        </p:xfrm>
        <a:graphic>
          <a:graphicData uri="http://schemas.openxmlformats.org/drawingml/2006/table">
            <a:tbl>
              <a:tblPr/>
              <a:tblGrid>
                <a:gridCol w="1733057">
                  <a:extLst>
                    <a:ext uri="{9D8B030D-6E8A-4147-A177-3AD203B41FA5}">
                      <a16:colId xmlns:a16="http://schemas.microsoft.com/office/drawing/2014/main" val="4122672720"/>
                    </a:ext>
                  </a:extLst>
                </a:gridCol>
                <a:gridCol w="1623021">
                  <a:extLst>
                    <a:ext uri="{9D8B030D-6E8A-4147-A177-3AD203B41FA5}">
                      <a16:colId xmlns:a16="http://schemas.microsoft.com/office/drawing/2014/main" val="1163823570"/>
                    </a:ext>
                  </a:extLst>
                </a:gridCol>
                <a:gridCol w="1678038">
                  <a:extLst>
                    <a:ext uri="{9D8B030D-6E8A-4147-A177-3AD203B41FA5}">
                      <a16:colId xmlns:a16="http://schemas.microsoft.com/office/drawing/2014/main" val="3004653049"/>
                    </a:ext>
                  </a:extLst>
                </a:gridCol>
              </a:tblGrid>
              <a:tr h="522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Problem Observed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Reason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Result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59462"/>
                  </a:ext>
                </a:extLst>
              </a:tr>
              <a:tr h="777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Unstable validation accuracy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Model not learning robust features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Poor generalization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34869"/>
                  </a:ext>
                </a:extLst>
              </a:tr>
              <a:tr h="522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High validation loss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Dataset not large enough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Overfitting occurs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261909"/>
                  </a:ext>
                </a:extLst>
              </a:tr>
              <a:tr h="777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Slow accuracy improvement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Network capacity insufficient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Needs stronger feature extractor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50374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2D91C6F-3BC4-3A7E-4CB5-46EB79160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12" y="3949318"/>
            <a:ext cx="5555228" cy="2599824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9956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12E9-522B-A140-7409-1C7D8CFA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C7695E-340F-881C-04DB-B9A9BACD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5D0C231F-32A8-3A71-4CB8-5FADD51B8068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58ED3F-13BB-7DBB-6184-700050776F26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7F2174-C34A-A8CD-7534-AA01DB88FFF5}"/>
              </a:ext>
            </a:extLst>
          </p:cNvPr>
          <p:cNvSpPr txBox="1"/>
          <p:nvPr/>
        </p:nvSpPr>
        <p:spPr>
          <a:xfrm>
            <a:off x="2664542" y="206477"/>
            <a:ext cx="5830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Base model training and finetuning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4B5C9-02B5-75B6-90FD-27A3FA589772}"/>
              </a:ext>
            </a:extLst>
          </p:cNvPr>
          <p:cNvSpPr txBox="1"/>
          <p:nvPr/>
        </p:nvSpPr>
        <p:spPr>
          <a:xfrm>
            <a:off x="1111045" y="1199536"/>
            <a:ext cx="600751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train_model.py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Purpose:</a:t>
            </a:r>
            <a:r>
              <a:rPr lang="en-IN" sz="1400" dirty="0">
                <a:latin typeface="Aptos" panose="020B0004020202020204" pitchFamily="34" charset="0"/>
              </a:rPr>
              <a:t> Train a pretrained CNN model for fish species classification.</a:t>
            </a:r>
          </a:p>
          <a:p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Load Dataset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Uses </a:t>
            </a:r>
            <a:r>
              <a:rPr lang="en-IN" sz="1400" dirty="0" err="1">
                <a:latin typeface="Aptos" panose="020B0004020202020204" pitchFamily="34" charset="0"/>
              </a:rPr>
              <a:t>ImageDataGenerator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Training data → with augmentations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Validation &amp; Test → rescaling only</a:t>
            </a:r>
          </a:p>
          <a:p>
            <a:pPr lvl="1"/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Model Selection (Transfer Learning)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Backbone options: </a:t>
            </a:r>
            <a:r>
              <a:rPr lang="en-IN" sz="1400" b="1" dirty="0">
                <a:latin typeface="Aptos" panose="020B0004020202020204" pitchFamily="34" charset="0"/>
              </a:rPr>
              <a:t>EfficientNetB0, ResNet50, VGG16, MobileNetV2, InceptionV3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Load pretrained ImageNet weights (feature extraction)</a:t>
            </a:r>
          </a:p>
          <a:p>
            <a:endParaRPr lang="en-IN" sz="1400" b="1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Custom Classification Head: </a:t>
            </a:r>
            <a:r>
              <a:rPr lang="en-IN" sz="1400" dirty="0" err="1">
                <a:latin typeface="Aptos" panose="020B0004020202020204" pitchFamily="34" charset="0"/>
              </a:rPr>
              <a:t>GlobalAveragePooling</a:t>
            </a:r>
            <a:r>
              <a:rPr lang="en-IN" sz="1400" dirty="0">
                <a:latin typeface="Aptos" panose="020B0004020202020204" pitchFamily="34" charset="0"/>
              </a:rPr>
              <a:t> → Dropout(0.4) → Dense(</a:t>
            </a:r>
            <a:r>
              <a:rPr lang="en-IN" sz="1400" dirty="0" err="1">
                <a:latin typeface="Aptos" panose="020B0004020202020204" pitchFamily="34" charset="0"/>
              </a:rPr>
              <a:t>num_classes</a:t>
            </a:r>
            <a:r>
              <a:rPr lang="en-IN" sz="1400" dirty="0">
                <a:latin typeface="Aptos" panose="020B0004020202020204" pitchFamily="34" charset="0"/>
              </a:rPr>
              <a:t>, </a:t>
            </a:r>
            <a:r>
              <a:rPr lang="en-IN" sz="1400" dirty="0" err="1">
                <a:latin typeface="Aptos" panose="020B0004020202020204" pitchFamily="34" charset="0"/>
              </a:rPr>
              <a:t>softmax</a:t>
            </a:r>
            <a:r>
              <a:rPr lang="en-IN" sz="1400" dirty="0">
                <a:latin typeface="Aptos" panose="020B0004020202020204" pitchFamily="34" charset="0"/>
              </a:rPr>
              <a:t>)</a:t>
            </a:r>
          </a:p>
          <a:p>
            <a:endParaRPr lang="en-IN" sz="1400" b="1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Compile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Optimizer: </a:t>
            </a:r>
            <a:r>
              <a:rPr lang="en-IN" sz="1400" dirty="0" err="1">
                <a:latin typeface="Aptos" panose="020B0004020202020204" pitchFamily="34" charset="0"/>
              </a:rPr>
              <a:t>Adam,Loss</a:t>
            </a:r>
            <a:r>
              <a:rPr lang="en-IN" sz="1400" dirty="0">
                <a:latin typeface="Aptos" panose="020B0004020202020204" pitchFamily="34" charset="0"/>
              </a:rPr>
              <a:t>: Categorical </a:t>
            </a:r>
            <a:r>
              <a:rPr lang="en-IN" sz="1400" dirty="0" err="1">
                <a:latin typeface="Aptos" panose="020B0004020202020204" pitchFamily="34" charset="0"/>
              </a:rPr>
              <a:t>Crossentropy,Metric</a:t>
            </a:r>
            <a:r>
              <a:rPr lang="en-IN" sz="1400" dirty="0">
                <a:latin typeface="Aptos" panose="020B0004020202020204" pitchFamily="34" charset="0"/>
              </a:rPr>
              <a:t>: Accuracy</a:t>
            </a:r>
          </a:p>
          <a:p>
            <a:endParaRPr lang="en-IN" sz="1400" b="1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Training-Callbacks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ptos" panose="020B0004020202020204" pitchFamily="34" charset="0"/>
              </a:rPr>
              <a:t>ModelCheckpoint</a:t>
            </a:r>
            <a:r>
              <a:rPr lang="en-IN" sz="1400" dirty="0">
                <a:latin typeface="Aptos" panose="020B0004020202020204" pitchFamily="34" charset="0"/>
              </a:rPr>
              <a:t> → Save best model (.</a:t>
            </a:r>
            <a:r>
              <a:rPr lang="en-IN" sz="1400" dirty="0" err="1">
                <a:latin typeface="Aptos" panose="020B0004020202020204" pitchFamily="34" charset="0"/>
              </a:rPr>
              <a:t>keras</a:t>
            </a:r>
            <a:r>
              <a:rPr lang="en-IN" sz="1400" dirty="0">
                <a:latin typeface="Aptos" panose="020B00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ptos" panose="020B0004020202020204" pitchFamily="34" charset="0"/>
              </a:rPr>
              <a:t>ReduceLROnPlateau</a:t>
            </a:r>
            <a:r>
              <a:rPr lang="en-IN" sz="1400" dirty="0">
                <a:latin typeface="Aptos" panose="020B0004020202020204" pitchFamily="34" charset="0"/>
              </a:rPr>
              <a:t> → Lower LR on plateaus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ptos" panose="020B0004020202020204" pitchFamily="34" charset="0"/>
              </a:rPr>
              <a:t>EarlyStopping</a:t>
            </a:r>
            <a:r>
              <a:rPr lang="en-IN" sz="1400" dirty="0">
                <a:latin typeface="Aptos" panose="020B0004020202020204" pitchFamily="34" charset="0"/>
              </a:rPr>
              <a:t> → Stop when </a:t>
            </a:r>
            <a:r>
              <a:rPr lang="en-IN" sz="1400" dirty="0" err="1">
                <a:latin typeface="Aptos" panose="020B0004020202020204" pitchFamily="34" charset="0"/>
              </a:rPr>
              <a:t>val_loss</a:t>
            </a:r>
            <a:r>
              <a:rPr lang="en-IN" sz="1400" dirty="0">
                <a:latin typeface="Aptos" panose="020B0004020202020204" pitchFamily="34" charset="0"/>
              </a:rPr>
              <a:t> stops improving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Outputs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Best model saved in </a:t>
            </a:r>
            <a:r>
              <a:rPr lang="en-IN" sz="1400" b="1" dirty="0">
                <a:latin typeface="Aptos" panose="020B0004020202020204" pitchFamily="34" charset="0"/>
              </a:rPr>
              <a:t>/models</a:t>
            </a:r>
            <a:endParaRPr lang="en-IN" sz="14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Accuracy/Loss plots saved in </a:t>
            </a:r>
            <a:r>
              <a:rPr lang="en-IN" sz="1400" b="1" dirty="0">
                <a:latin typeface="Aptos" panose="020B0004020202020204" pitchFamily="34" charset="0"/>
              </a:rPr>
              <a:t>/results/ </a:t>
            </a:r>
            <a:r>
              <a:rPr lang="en-IN" sz="1400" b="1" dirty="0" err="1">
                <a:latin typeface="Aptos" panose="020B0004020202020204" pitchFamily="34" charset="0"/>
              </a:rPr>
              <a:t>training_history</a:t>
            </a:r>
            <a:endParaRPr lang="en-IN" sz="1400" dirty="0">
              <a:latin typeface="Aptos" panose="020B0004020202020204" pitchFamily="34" charset="0"/>
            </a:endParaRPr>
          </a:p>
          <a:p>
            <a:endParaRPr lang="en-IN" sz="1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993B3F-93C2-8E90-2ECA-97A53979B9E7}"/>
              </a:ext>
            </a:extLst>
          </p:cNvPr>
          <p:cNvSpPr txBox="1"/>
          <p:nvPr/>
        </p:nvSpPr>
        <p:spPr>
          <a:xfrm>
            <a:off x="7541353" y="1258528"/>
            <a:ext cx="438517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train_finetune.py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Purpose:</a:t>
            </a:r>
            <a:r>
              <a:rPr lang="en-US" sz="1400" dirty="0">
                <a:latin typeface="Aptos" panose="020B0004020202020204" pitchFamily="34" charset="0"/>
              </a:rPr>
              <a:t> Improve model accuracy by unfreezing part of the pretrained backbone.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b="1" dirty="0">
                <a:latin typeface="Aptos" panose="020B0004020202020204" pitchFamily="34" charset="0"/>
              </a:rPr>
              <a:t>Process: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Load previously saved model (</a:t>
            </a:r>
            <a:r>
              <a:rPr lang="en-US" sz="1400" dirty="0" err="1">
                <a:latin typeface="Aptos" panose="020B0004020202020204" pitchFamily="34" charset="0"/>
              </a:rPr>
              <a:t>model_name.keras</a:t>
            </a:r>
            <a:r>
              <a:rPr lang="en-US" sz="1400" dirty="0">
                <a:latin typeface="Aptos" panose="020B00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Unfreeze last N layers</a:t>
            </a:r>
            <a:r>
              <a:rPr lang="en-US" sz="1400" dirty="0">
                <a:latin typeface="Aptos" panose="020B0004020202020204" pitchFamily="34" charset="0"/>
              </a:rPr>
              <a:t> to allow deeper feature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Re-compile with </a:t>
            </a:r>
            <a:r>
              <a:rPr lang="en-US" sz="1400" b="1" dirty="0">
                <a:latin typeface="Aptos" panose="020B0004020202020204" pitchFamily="34" charset="0"/>
              </a:rPr>
              <a:t>very small learning rate (1e-5)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Train again with light augmentation and early stopping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Evaluate on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Save final fine-tuned model (</a:t>
            </a:r>
            <a:r>
              <a:rPr lang="en-US" sz="1400" dirty="0" err="1">
                <a:latin typeface="Aptos" panose="020B0004020202020204" pitchFamily="34" charset="0"/>
              </a:rPr>
              <a:t>model_name_finetuned.keras</a:t>
            </a:r>
            <a:r>
              <a:rPr lang="en-US" sz="1400" dirty="0">
                <a:latin typeface="Aptos" panose="020B00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Save updated accuracy/loss plots and metrics</a:t>
            </a:r>
          </a:p>
          <a:p>
            <a:endParaRPr lang="en-IN" sz="1400" dirty="0">
              <a:latin typeface="Aptos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FD878D-F475-E72F-9DBF-B60A3AFDAB22}"/>
              </a:ext>
            </a:extLst>
          </p:cNvPr>
          <p:cNvCxnSpPr>
            <a:cxnSpLocks/>
          </p:cNvCxnSpPr>
          <p:nvPr/>
        </p:nvCxnSpPr>
        <p:spPr>
          <a:xfrm>
            <a:off x="7285703" y="1258529"/>
            <a:ext cx="0" cy="5486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8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D32A-C93A-BFA4-D68B-E2E02553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B235E-013C-FC29-9E42-007193613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EA4DE18C-46A1-86AB-C57A-5495CE8BF8DC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A72DD-9F13-FDF8-CBA1-BBEF993B314F}"/>
              </a:ext>
            </a:extLst>
          </p:cNvPr>
          <p:cNvSpPr txBox="1"/>
          <p:nvPr/>
        </p:nvSpPr>
        <p:spPr>
          <a:xfrm>
            <a:off x="2763913" y="11427"/>
            <a:ext cx="5830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Base model training and finetuning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30B19-9D05-B40E-2EAA-EAAA21C2B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39" y="605191"/>
            <a:ext cx="4302861" cy="1992690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E09652-5A20-9150-C1EB-A9846E2A7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755" y="586815"/>
            <a:ext cx="4356923" cy="2011065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9EE0D1-AC81-56EE-9FB9-7399AE450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139" y="2744172"/>
            <a:ext cx="4302861" cy="2001122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8F5093-BDF5-AE10-548E-AFDFC1B17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755" y="2744172"/>
            <a:ext cx="4356923" cy="2039022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E91CE3-C890-19A0-5755-463F70C0F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3140" y="4853766"/>
            <a:ext cx="4302860" cy="2011020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676029-63F2-044F-7D08-86F8FBA748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4755" y="4866573"/>
            <a:ext cx="4356923" cy="1980000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30160E6C-F149-129D-55E5-464C8AA73D4C}"/>
              </a:ext>
            </a:extLst>
          </p:cNvPr>
          <p:cNvSpPr/>
          <p:nvPr/>
        </p:nvSpPr>
        <p:spPr>
          <a:xfrm>
            <a:off x="6351639" y="1514168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98EA4-3DD8-87EE-9DE2-38BD8426D6A5}"/>
              </a:ext>
            </a:extLst>
          </p:cNvPr>
          <p:cNvSpPr/>
          <p:nvPr/>
        </p:nvSpPr>
        <p:spPr>
          <a:xfrm>
            <a:off x="6341807" y="3724354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7832BFE-1C08-ED79-1F62-88C1BD47DF2B}"/>
              </a:ext>
            </a:extLst>
          </p:cNvPr>
          <p:cNvSpPr/>
          <p:nvPr/>
        </p:nvSpPr>
        <p:spPr>
          <a:xfrm>
            <a:off x="6397474" y="5738586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23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9E158-7000-D366-2FCB-D8843CC6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D4BB60-9353-D279-6A4F-F9B111917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4F41A573-0936-2434-C815-D8F34C584197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DD73FA-8662-065C-7661-BFF3D031E101}"/>
              </a:ext>
            </a:extLst>
          </p:cNvPr>
          <p:cNvSpPr txBox="1"/>
          <p:nvPr/>
        </p:nvSpPr>
        <p:spPr>
          <a:xfrm>
            <a:off x="2763913" y="11427"/>
            <a:ext cx="5830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Base model training and finetuning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254E5C1-B54B-1ACC-4210-F2135D9B8DD3}"/>
              </a:ext>
            </a:extLst>
          </p:cNvPr>
          <p:cNvSpPr/>
          <p:nvPr/>
        </p:nvSpPr>
        <p:spPr>
          <a:xfrm>
            <a:off x="6351639" y="1514168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4432008-7FC7-7685-B549-1032A841C23F}"/>
              </a:ext>
            </a:extLst>
          </p:cNvPr>
          <p:cNvSpPr/>
          <p:nvPr/>
        </p:nvSpPr>
        <p:spPr>
          <a:xfrm>
            <a:off x="6341807" y="3724354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82E85-8D88-7061-CE5F-3CBC06B4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00" y="626081"/>
            <a:ext cx="4215554" cy="1980000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849D90-83AE-769F-01F5-5542B0F69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338" y="626081"/>
            <a:ext cx="4419100" cy="2011452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998FDD-5240-1534-A645-4C1439F54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000" y="2697515"/>
            <a:ext cx="4215554" cy="2021576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66CB8A-A92D-436A-AA37-B36C33CD4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338" y="2674380"/>
            <a:ext cx="4419100" cy="2041215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C3D3871-1105-CECE-C12F-EB575719BB52}"/>
              </a:ext>
            </a:extLst>
          </p:cNvPr>
          <p:cNvSpPr txBox="1"/>
          <p:nvPr/>
        </p:nvSpPr>
        <p:spPr>
          <a:xfrm>
            <a:off x="1907458" y="5250426"/>
            <a:ext cx="42545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Interpretation:</a:t>
            </a:r>
            <a:br>
              <a:rPr lang="en-US" sz="1400" dirty="0">
                <a:latin typeface="Aptos" panose="020B0004020202020204" pitchFamily="34" charset="0"/>
              </a:rPr>
            </a:br>
            <a:r>
              <a:rPr lang="en-US" sz="1400" dirty="0" err="1">
                <a:latin typeface="Aptos" panose="020B0004020202020204" pitchFamily="34" charset="0"/>
              </a:rPr>
              <a:t>EfficientNet</a:t>
            </a:r>
            <a:r>
              <a:rPr lang="en-US" sz="1400" dirty="0">
                <a:latin typeface="Aptos" panose="020B0004020202020204" pitchFamily="34" charset="0"/>
              </a:rPr>
              <a:t> and VGG showed </a:t>
            </a:r>
            <a:r>
              <a:rPr lang="en-US" sz="1400" b="1" dirty="0">
                <a:latin typeface="Aptos" panose="020B0004020202020204" pitchFamily="34" charset="0"/>
              </a:rPr>
              <a:t>underfitting</a:t>
            </a:r>
            <a:r>
              <a:rPr lang="en-US" sz="1400" dirty="0">
                <a:latin typeface="Aptos" panose="020B0004020202020204" pitchFamily="34" charset="0"/>
              </a:rPr>
              <a:t>, despite their architectural power — a sign of </a:t>
            </a:r>
            <a:r>
              <a:rPr lang="en-US" sz="1400" b="1" dirty="0">
                <a:latin typeface="Aptos" panose="020B0004020202020204" pitchFamily="34" charset="0"/>
              </a:rPr>
              <a:t>insufficient adaptation to dataset</a:t>
            </a:r>
            <a:r>
              <a:rPr lang="en-US" sz="1400" dirty="0">
                <a:latin typeface="Aptos" panose="020B0004020202020204" pitchFamily="34" charset="0"/>
              </a:rPr>
              <a:t>.</a:t>
            </a:r>
            <a:endParaRPr lang="en-IN" sz="1400" dirty="0">
              <a:latin typeface="Aptos" panose="020B000402020202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CC448FA-B193-D2F5-134D-2DE6CC127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94504"/>
              </p:ext>
            </p:extLst>
          </p:nvPr>
        </p:nvGraphicFramePr>
        <p:xfrm>
          <a:off x="6809336" y="4935794"/>
          <a:ext cx="4487929" cy="1732310"/>
        </p:xfrm>
        <a:graphic>
          <a:graphicData uri="http://schemas.openxmlformats.org/drawingml/2006/table">
            <a:tbl>
              <a:tblPr/>
              <a:tblGrid>
                <a:gridCol w="919545">
                  <a:extLst>
                    <a:ext uri="{9D8B030D-6E8A-4147-A177-3AD203B41FA5}">
                      <a16:colId xmlns:a16="http://schemas.microsoft.com/office/drawing/2014/main" val="3837551070"/>
                    </a:ext>
                  </a:extLst>
                </a:gridCol>
                <a:gridCol w="884177">
                  <a:extLst>
                    <a:ext uri="{9D8B030D-6E8A-4147-A177-3AD203B41FA5}">
                      <a16:colId xmlns:a16="http://schemas.microsoft.com/office/drawing/2014/main" val="3482637299"/>
                    </a:ext>
                  </a:extLst>
                </a:gridCol>
                <a:gridCol w="900015">
                  <a:extLst>
                    <a:ext uri="{9D8B030D-6E8A-4147-A177-3AD203B41FA5}">
                      <a16:colId xmlns:a16="http://schemas.microsoft.com/office/drawing/2014/main" val="392246426"/>
                    </a:ext>
                  </a:extLst>
                </a:gridCol>
                <a:gridCol w="892096">
                  <a:extLst>
                    <a:ext uri="{9D8B030D-6E8A-4147-A177-3AD203B41FA5}">
                      <a16:colId xmlns:a16="http://schemas.microsoft.com/office/drawing/2014/main" val="4280436158"/>
                    </a:ext>
                  </a:extLst>
                </a:gridCol>
                <a:gridCol w="892096">
                  <a:extLst>
                    <a:ext uri="{9D8B030D-6E8A-4147-A177-3AD203B41FA5}">
                      <a16:colId xmlns:a16="http://schemas.microsoft.com/office/drawing/2014/main" val="191244815"/>
                    </a:ext>
                  </a:extLst>
                </a:gridCol>
              </a:tblGrid>
              <a:tr h="173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Accuracy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Recall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00883"/>
                  </a:ext>
                </a:extLst>
              </a:tr>
              <a:tr h="311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efficientnetb0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0.129588955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0.181766374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0.129588955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0.093019297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899170"/>
                  </a:ext>
                </a:extLst>
              </a:tr>
              <a:tr h="311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inceptionv3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0.994038281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0.995924749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0.994038281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0.994795329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453722"/>
                  </a:ext>
                </a:extLst>
              </a:tr>
              <a:tr h="311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mobilenetv2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0.94069658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0.947511341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0.94069658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0.941631012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20719"/>
                  </a:ext>
                </a:extLst>
              </a:tr>
              <a:tr h="311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resnet50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0.989645435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0.990192701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0.989645435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0.989770706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77145"/>
                  </a:ext>
                </a:extLst>
              </a:tr>
              <a:tr h="311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vgg16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0.385315344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0.31228319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0.385315344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0.319985573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88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46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970A4-ADD9-1F9D-5774-9782AA87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27202-0D6F-FEE8-4D87-DDBFB1CBB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E249352D-F494-1AD7-9079-07134BBFE918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405978-279E-ABA5-2B88-0815DE9E2136}"/>
              </a:ext>
            </a:extLst>
          </p:cNvPr>
          <p:cNvCxnSpPr>
            <a:cxnSpLocks/>
          </p:cNvCxnSpPr>
          <p:nvPr/>
        </p:nvCxnSpPr>
        <p:spPr>
          <a:xfrm>
            <a:off x="1396179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3A87BE-8057-4212-F5AA-0EE78B488F68}"/>
              </a:ext>
            </a:extLst>
          </p:cNvPr>
          <p:cNvSpPr txBox="1"/>
          <p:nvPr/>
        </p:nvSpPr>
        <p:spPr>
          <a:xfrm>
            <a:off x="2792360" y="104451"/>
            <a:ext cx="6617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Focused Fine_tuning:efficientnetb0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ADDB4-D250-99FE-983A-8837AA62F09E}"/>
              </a:ext>
            </a:extLst>
          </p:cNvPr>
          <p:cNvSpPr txBox="1"/>
          <p:nvPr/>
        </p:nvSpPr>
        <p:spPr>
          <a:xfrm>
            <a:off x="1396179" y="1081548"/>
            <a:ext cx="1035336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Why EfficientNetB0 Again?</a:t>
            </a:r>
            <a:br>
              <a:rPr lang="en-US" sz="1500" dirty="0">
                <a:latin typeface="Aptos" panose="020B0004020202020204" pitchFamily="34" charset="0"/>
              </a:rPr>
            </a:br>
            <a:r>
              <a:rPr lang="en-US" sz="1500" dirty="0">
                <a:latin typeface="Aptos" panose="020B0004020202020204" pitchFamily="34" charset="0"/>
              </a:rPr>
              <a:t>Because it is computationally efficient and scales depth, width, and resolution optimally.</a:t>
            </a:r>
            <a:br>
              <a:rPr lang="en-US" sz="1500" dirty="0">
                <a:latin typeface="Aptos" panose="020B0004020202020204" pitchFamily="34" charset="0"/>
              </a:rPr>
            </a:br>
            <a:r>
              <a:rPr lang="en-US" sz="1500" dirty="0">
                <a:latin typeface="Aptos" panose="020B0004020202020204" pitchFamily="34" charset="0"/>
              </a:rPr>
              <a:t>Even though it underperformed, it had the highest potential for improvement through deeper fine-tuning.</a:t>
            </a:r>
            <a:endParaRPr lang="en-IN" sz="15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92E7B-5FA7-4483-4727-42A259BF8A8F}"/>
              </a:ext>
            </a:extLst>
          </p:cNvPr>
          <p:cNvSpPr txBox="1"/>
          <p:nvPr/>
        </p:nvSpPr>
        <p:spPr>
          <a:xfrm>
            <a:off x="540774" y="2182759"/>
            <a:ext cx="4670324" cy="416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Versions Developed: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efficientnetb0_finetuned_balanced.keras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efficientnetb0_finetuned_balanced_v2.keras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efficientnetb0_finetuned_v4_final.keras</a:t>
            </a:r>
          </a:p>
          <a:p>
            <a:r>
              <a:rPr lang="en-IN" sz="15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Adjustments Made: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Unfroze more convolutional layers gradually.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Applied balanced class weights and enhanced augmentation.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Lowered learning rate to 1e-5 for stable weight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Extended training to 30–50 epochs.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Monitored validation accuracy and loss trends.</a:t>
            </a:r>
          </a:p>
          <a:p>
            <a:r>
              <a:rPr lang="en-IN" sz="1500" b="1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Result:</a:t>
            </a:r>
            <a:br>
              <a:rPr lang="en-IN" sz="1500" dirty="0">
                <a:latin typeface="Aptos" panose="020B0004020202020204" pitchFamily="34" charset="0"/>
              </a:rPr>
            </a:br>
            <a:r>
              <a:rPr lang="en-IN" sz="1500" dirty="0">
                <a:latin typeface="Aptos" panose="020B0004020202020204" pitchFamily="34" charset="0"/>
              </a:rPr>
              <a:t>efficientnetb0_finetuned_v4_final.keras achieved </a:t>
            </a:r>
            <a:r>
              <a:rPr lang="en-IN" sz="1500" b="1" dirty="0">
                <a:latin typeface="Aptos" panose="020B0004020202020204" pitchFamily="34" charset="0"/>
              </a:rPr>
              <a:t>100% confidence</a:t>
            </a:r>
            <a:r>
              <a:rPr lang="en-IN" sz="1500" dirty="0">
                <a:latin typeface="Aptos" panose="020B0004020202020204" pitchFamily="34" charset="0"/>
              </a:rPr>
              <a:t> and </a:t>
            </a:r>
            <a:r>
              <a:rPr lang="en-IN" sz="1500" b="1" dirty="0">
                <a:latin typeface="Aptos" panose="020B0004020202020204" pitchFamily="34" charset="0"/>
              </a:rPr>
              <a:t>0.9978 test accuracy</a:t>
            </a:r>
            <a:r>
              <a:rPr lang="en-IN" sz="1500" dirty="0">
                <a:latin typeface="Aptos" panose="020B0004020202020204" pitchFamily="34" charset="0"/>
              </a:rPr>
              <a:t> — demonstrating effective domain adaptation.</a:t>
            </a:r>
          </a:p>
          <a:p>
            <a:endParaRPr lang="en-IN" sz="1500" dirty="0">
              <a:latin typeface="Aptos" panose="020B00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071DFC6-FBFC-9C4F-2294-C5183917A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41769"/>
              </p:ext>
            </p:extLst>
          </p:nvPr>
        </p:nvGraphicFramePr>
        <p:xfrm>
          <a:off x="5211098" y="2694832"/>
          <a:ext cx="6893846" cy="2020532"/>
        </p:xfrm>
        <a:graphic>
          <a:graphicData uri="http://schemas.openxmlformats.org/drawingml/2006/table">
            <a:tbl>
              <a:tblPr/>
              <a:tblGrid>
                <a:gridCol w="1946786">
                  <a:extLst>
                    <a:ext uri="{9D8B030D-6E8A-4147-A177-3AD203B41FA5}">
                      <a16:colId xmlns:a16="http://schemas.microsoft.com/office/drawing/2014/main" val="3582257458"/>
                    </a:ext>
                  </a:extLst>
                </a:gridCol>
                <a:gridCol w="1092930">
                  <a:extLst>
                    <a:ext uri="{9D8B030D-6E8A-4147-A177-3AD203B41FA5}">
                      <a16:colId xmlns:a16="http://schemas.microsoft.com/office/drawing/2014/main" val="3259699144"/>
                    </a:ext>
                  </a:extLst>
                </a:gridCol>
                <a:gridCol w="1284710">
                  <a:extLst>
                    <a:ext uri="{9D8B030D-6E8A-4147-A177-3AD203B41FA5}">
                      <a16:colId xmlns:a16="http://schemas.microsoft.com/office/drawing/2014/main" val="2817534317"/>
                    </a:ext>
                  </a:extLst>
                </a:gridCol>
                <a:gridCol w="1284710">
                  <a:extLst>
                    <a:ext uri="{9D8B030D-6E8A-4147-A177-3AD203B41FA5}">
                      <a16:colId xmlns:a16="http://schemas.microsoft.com/office/drawing/2014/main" val="2311366084"/>
                    </a:ext>
                  </a:extLst>
                </a:gridCol>
                <a:gridCol w="1284710">
                  <a:extLst>
                    <a:ext uri="{9D8B030D-6E8A-4147-A177-3AD203B41FA5}">
                      <a16:colId xmlns:a16="http://schemas.microsoft.com/office/drawing/2014/main" val="1247693660"/>
                    </a:ext>
                  </a:extLst>
                </a:gridCol>
              </a:tblGrid>
              <a:tr h="1706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Accuracy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Recall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6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49563"/>
                  </a:ext>
                </a:extLst>
              </a:tr>
              <a:tr h="3413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efficientnetb0_finetuned_v4_final.keras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0.997803577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0.969520447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0.991958042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0.978857297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378579"/>
                  </a:ext>
                </a:extLst>
              </a:tr>
              <a:tr h="341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inceptionv3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0.994038281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0.995924749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0.994038281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0.994795329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976351"/>
                  </a:ext>
                </a:extLst>
              </a:tr>
              <a:tr h="341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mobilenetv2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0.94069658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0.947511341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0.94069658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0.941631012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574020"/>
                  </a:ext>
                </a:extLst>
              </a:tr>
              <a:tr h="341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resnet50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0.989645435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0.990192701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0.989645435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0.989770706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0334"/>
                  </a:ext>
                </a:extLst>
              </a:tr>
              <a:tr h="341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vgg16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0.385315344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0.31228319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0.385315344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0.319985573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256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31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4C0C-92DF-DF54-2C49-F03BCD42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E3F687-5A9B-6578-89AA-9EF605C6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E32F73C9-1640-1460-D458-CF2CF13B7321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A64BBD-0F6A-C656-2A0A-4744C99AD28E}"/>
              </a:ext>
            </a:extLst>
          </p:cNvPr>
          <p:cNvCxnSpPr>
            <a:cxnSpLocks/>
          </p:cNvCxnSpPr>
          <p:nvPr/>
        </p:nvCxnSpPr>
        <p:spPr>
          <a:xfrm>
            <a:off x="1592018" y="62767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2C9EEDC-EBBF-08E0-09BF-C9979D18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018" y="654249"/>
            <a:ext cx="4653595" cy="3687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B89FE7-55B1-C989-1887-0A4E62786937}"/>
              </a:ext>
            </a:extLst>
          </p:cNvPr>
          <p:cNvSpPr txBox="1"/>
          <p:nvPr/>
        </p:nvSpPr>
        <p:spPr>
          <a:xfrm>
            <a:off x="2792360" y="104451"/>
            <a:ext cx="6617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Focused Fine_tuning:efficientnetb0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23F070-EF60-A710-44A3-47465BD3E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639" y="654249"/>
            <a:ext cx="4531625" cy="368722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AB88AA0-2A48-764B-2553-FB6DFA6820F8}"/>
              </a:ext>
            </a:extLst>
          </p:cNvPr>
          <p:cNvSpPr/>
          <p:nvPr/>
        </p:nvSpPr>
        <p:spPr>
          <a:xfrm>
            <a:off x="6620894" y="1856654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FF134-A63C-0FD1-4E29-C1F76F70E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016" y="4522845"/>
            <a:ext cx="4503984" cy="2080424"/>
          </a:xfrm>
          <a:prstGeom prst="rect">
            <a:avLst/>
          </a:prstGeom>
          <a:effectLst>
            <a:glow rad="38100">
              <a:schemeClr val="accent1">
                <a:lumMod val="60000"/>
                <a:lumOff val="40000"/>
              </a:schemeClr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B1A70A-9187-34F4-8B23-21C25CF5C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93" y="4522844"/>
            <a:ext cx="4618671" cy="208042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441B0842-37EC-6D8D-D82F-DF1C85F5FD11}"/>
              </a:ext>
            </a:extLst>
          </p:cNvPr>
          <p:cNvSpPr/>
          <p:nvPr/>
        </p:nvSpPr>
        <p:spPr>
          <a:xfrm>
            <a:off x="6502564" y="5445069"/>
            <a:ext cx="324464" cy="235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0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E767-9618-8CC9-40A6-57DAB646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B66B26-9A40-81A7-BDD9-F2B8EC8F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" y="-1"/>
            <a:ext cx="2792361" cy="1974641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89136A2F-A2FA-939B-313C-9581F8F9E7A4}"/>
              </a:ext>
            </a:extLst>
          </p:cNvPr>
          <p:cNvSpPr/>
          <p:nvPr/>
        </p:nvSpPr>
        <p:spPr>
          <a:xfrm>
            <a:off x="893928" y="816591"/>
            <a:ext cx="609600" cy="580103"/>
          </a:xfrm>
          <a:prstGeom prst="diagStri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8BBCD6-E919-6CD8-498B-93B67F0E361C}"/>
              </a:ext>
            </a:extLst>
          </p:cNvPr>
          <p:cNvCxnSpPr>
            <a:cxnSpLocks/>
          </p:cNvCxnSpPr>
          <p:nvPr/>
        </p:nvCxnSpPr>
        <p:spPr>
          <a:xfrm>
            <a:off x="1503528" y="816591"/>
            <a:ext cx="107474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C10E744-7D8B-89E7-4BEA-C26BCDDD90AB}"/>
              </a:ext>
            </a:extLst>
          </p:cNvPr>
          <p:cNvSpPr txBox="1"/>
          <p:nvPr/>
        </p:nvSpPr>
        <p:spPr>
          <a:xfrm>
            <a:off x="1691148" y="1199535"/>
            <a:ext cx="8770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Deep learning learns hierarchical image features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CNNs identify edges, textures, and shape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Transfer learning reduced data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Fine-tuning allowed domain-specific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Final model achieved strong accuracy and reliability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BBAA6-AAF4-CB0B-2F85-FFB6DEDAB804}"/>
              </a:ext>
            </a:extLst>
          </p:cNvPr>
          <p:cNvSpPr txBox="1"/>
          <p:nvPr/>
        </p:nvSpPr>
        <p:spPr>
          <a:xfrm>
            <a:off x="2113128" y="293371"/>
            <a:ext cx="6617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40593-09D6-2733-8AA3-3BB1591CAB1E}"/>
              </a:ext>
            </a:extLst>
          </p:cNvPr>
          <p:cNvSpPr txBox="1"/>
          <p:nvPr/>
        </p:nvSpPr>
        <p:spPr>
          <a:xfrm>
            <a:off x="1592826" y="3136491"/>
            <a:ext cx="993549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      Business Relevance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Aquaculture &amp; Fisheries:</a:t>
            </a:r>
            <a:r>
              <a:rPr lang="en-IN" dirty="0">
                <a:latin typeface="Aptos" panose="020B0004020202020204" pitchFamily="34" charset="0"/>
              </a:rPr>
              <a:t> Enables automated fish species recognition for sorting, quality control, and yield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Supply Chain Optimization:</a:t>
            </a:r>
            <a:r>
              <a:rPr lang="en-IN" dirty="0">
                <a:latin typeface="Aptos" panose="020B0004020202020204" pitchFamily="34" charset="0"/>
              </a:rPr>
              <a:t> Reduces manual inspection time, minimizes human error, and ensures consistent grading.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E-commerce &amp; Food Industry:</a:t>
            </a:r>
            <a:r>
              <a:rPr lang="en-IN" dirty="0">
                <a:latin typeface="Aptos" panose="020B0004020202020204" pitchFamily="34" charset="0"/>
              </a:rPr>
              <a:t> Helps classify and label seafood images automatically in online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Environmental Research:</a:t>
            </a:r>
            <a:r>
              <a:rPr lang="en-IN" dirty="0">
                <a:latin typeface="Aptos" panose="020B0004020202020204" pitchFamily="34" charset="0"/>
              </a:rPr>
              <a:t> Assists in species population monitoring and biodiversity tracking using underwater imagery.</a:t>
            </a:r>
          </a:p>
        </p:txBody>
      </p:sp>
    </p:spTree>
    <p:extLst>
      <p:ext uri="{BB962C8B-B14F-4D97-AF65-F5344CB8AC3E}">
        <p14:creationId xmlns:p14="http://schemas.microsoft.com/office/powerpoint/2010/main" val="410354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987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Fish Classification through Deep Learning Catch &amp; Classify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Palanisamy</dc:creator>
  <cp:lastModifiedBy>Geetha Palanisamy</cp:lastModifiedBy>
  <cp:revision>35</cp:revision>
  <dcterms:created xsi:type="dcterms:W3CDTF">2025-11-03T16:28:08Z</dcterms:created>
  <dcterms:modified xsi:type="dcterms:W3CDTF">2025-11-09T04:06:37Z</dcterms:modified>
</cp:coreProperties>
</file>